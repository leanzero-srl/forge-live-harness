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arcs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1143000"/>
            <a:ext cx="3896767" cy="4114800"/>
          </a:xfrm>
          <a:prstGeom prst="rect">
            <a:avLst/>
          </a:prstGeom>
        </p:spPr>
      </p:pic>
      <p:pic>
        <p:nvPicPr>
          <p:cNvPr id="4" name="Picture 3" descr="lockup-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85800"/>
            <a:ext cx="1277571" cy="1051560"/>
          </a:xfrm>
          <a:prstGeom prst="rect">
            <a:avLst/>
          </a:prstGeom>
        </p:spPr>
      </p:pic>
      <p:sp>
        <p:nvSpPr>
          <p:cNvPr id="5" name="slot:head"/>
          <p:cNvSpPr txBox="1"/>
          <p:nvPr/>
        </p:nvSpPr>
        <p:spPr>
          <a:xfrm>
            <a:off x="777240" y="2377440"/>
            <a:ext cx="76809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00" b="1">
                <a:solidFill>
                  <a:srgbClr val="000000"/>
                </a:solidFill>
                <a:latin typeface="Campton ExtraBold"/>
                <a:cs typeface="Campton ExtraBold"/>
              </a:rPr>
              <a:t>PLATFORM MIGRATION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27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800600"/>
            <a:ext cx="219456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blurb"/>
          <p:cNvSpPr txBox="1"/>
          <p:nvPr/>
        </p:nvSpPr>
        <p:spPr>
          <a:xfrm>
            <a:off x="777240" y="512064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66666"/>
                </a:solidFill>
                <a:latin typeface="Campton Book"/>
                <a:cs typeface="Campton Book"/>
              </a:rPr>
              <a:t>A journey to updating our infrastructure</a:t>
            </a:r>
          </a:p>
        </p:txBody>
      </p:sp>
      <p:sp>
        <p:nvSpPr>
          <p:cNvPr id="8" name="slot:tagline"/>
          <p:cNvSpPr txBox="1"/>
          <p:nvPr/>
        </p:nvSpPr>
        <p:spPr>
          <a:xfrm>
            <a:off x="7208215" y="5897880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5000"/>
                </a:solidFill>
                <a:latin typeface="Campton ExtraBold"/>
                <a:cs typeface="Campton ExtraBold"/>
              </a:rPr>
              <a:t>Updating industries</a:t>
            </a:r>
          </a:p>
        </p:txBody>
      </p:sp>
      <p:sp>
        <p:nvSpPr>
          <p:cNvPr id="9" name="slot:meta"/>
          <p:cNvSpPr txBox="1"/>
          <p:nvPr/>
        </p:nvSpPr>
        <p:spPr>
          <a:xfrm>
            <a:off x="7208215" y="6291072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Migration Pillars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slot:card1.head"/>
          <p:cNvSpPr txBox="1"/>
          <p:nvPr/>
        </p:nvSpPr>
        <p:spPr>
          <a:xfrm>
            <a:off x="1014983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Infrastructure</a:t>
            </a:r>
          </a:p>
        </p:txBody>
      </p:sp>
      <p:sp>
        <p:nvSpPr>
          <p:cNvPr id="8" name="slot:card1.body"/>
          <p:cNvSpPr txBox="1"/>
          <p:nvPr/>
        </p:nvSpPr>
        <p:spPr>
          <a:xfrm>
            <a:off x="1014983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Modernise cloud architecture and deployment pipelines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slot:card2.head"/>
          <p:cNvSpPr txBox="1"/>
          <p:nvPr/>
        </p:nvSpPr>
        <p:spPr>
          <a:xfrm>
            <a:off x="4667402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Data</a:t>
            </a:r>
          </a:p>
        </p:txBody>
      </p:sp>
      <p:sp>
        <p:nvSpPr>
          <p:cNvPr id="11" name="slot:card2.body"/>
          <p:cNvSpPr txBox="1"/>
          <p:nvPr/>
        </p:nvSpPr>
        <p:spPr>
          <a:xfrm>
            <a:off x="4667402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Seamless data transfer with zero downtime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82076" y="1965960"/>
            <a:ext cx="3332378" cy="2042160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card3.head"/>
          <p:cNvSpPr txBox="1"/>
          <p:nvPr/>
        </p:nvSpPr>
        <p:spPr>
          <a:xfrm>
            <a:off x="8319820" y="2203704"/>
            <a:ext cx="2856890" cy="57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Campton ExtraBold"/>
                <a:cs typeface="Campton ExtraBold"/>
              </a:rPr>
              <a:t>Applications</a:t>
            </a:r>
          </a:p>
        </p:txBody>
      </p:sp>
      <p:sp>
        <p:nvSpPr>
          <p:cNvPr id="14" name="slot:card3.body"/>
          <p:cNvSpPr txBox="1"/>
          <p:nvPr/>
        </p:nvSpPr>
        <p:spPr>
          <a:xfrm>
            <a:off x="8319820" y="2855976"/>
            <a:ext cx="285689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Refactor and optimise for new platform capabilities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392167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stat1.value"/>
          <p:cNvSpPr txBox="1"/>
          <p:nvPr/>
        </p:nvSpPr>
        <p:spPr>
          <a:xfrm>
            <a:off x="777240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7" name="slot:stat1.label"/>
          <p:cNvSpPr txBox="1"/>
          <p:nvPr/>
        </p:nvSpPr>
        <p:spPr>
          <a:xfrm>
            <a:off x="777240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8" name="slot:stat2.value"/>
          <p:cNvSpPr txBox="1"/>
          <p:nvPr/>
        </p:nvSpPr>
        <p:spPr>
          <a:xfrm>
            <a:off x="3436543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19" name="slot:stat2.label"/>
          <p:cNvSpPr txBox="1"/>
          <p:nvPr/>
        </p:nvSpPr>
        <p:spPr>
          <a:xfrm>
            <a:off x="3436543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0" name="slot:stat3.value"/>
          <p:cNvSpPr txBox="1"/>
          <p:nvPr/>
        </p:nvSpPr>
        <p:spPr>
          <a:xfrm>
            <a:off x="6095847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1" name="slot:stat3.label"/>
          <p:cNvSpPr txBox="1"/>
          <p:nvPr/>
        </p:nvSpPr>
        <p:spPr>
          <a:xfrm>
            <a:off x="6095847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2" name="slot:stat4.value"/>
          <p:cNvSpPr txBox="1"/>
          <p:nvPr/>
        </p:nvSpPr>
        <p:spPr>
          <a:xfrm>
            <a:off x="8755151" y="4666487"/>
            <a:ext cx="2384983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</p:txBody>
      </p:sp>
      <p:sp>
        <p:nvSpPr>
          <p:cNvPr id="23" name="slot:stat4.label"/>
          <p:cNvSpPr txBox="1"/>
          <p:nvPr/>
        </p:nvSpPr>
        <p:spPr>
          <a:xfrm>
            <a:off x="8755151" y="5314695"/>
            <a:ext cx="2384983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24" name="slot:footnote"/>
          <p:cNvSpPr txBox="1"/>
          <p:nvPr/>
        </p:nvSpPr>
        <p:spPr>
          <a:xfrm>
            <a:off x="777240" y="6291072"/>
            <a:ext cx="106372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spc="60">
                <a:solidFill>
                  <a:srgbClr val="666666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By the Numbers</a:t>
            </a:r>
          </a:p>
        </p:txBody>
      </p:sp>
      <p:sp>
        <p:nvSpPr>
          <p:cNvPr id="6" name="slot:stat1.value"/>
          <p:cNvSpPr txBox="1"/>
          <p:nvPr/>
        </p:nvSpPr>
        <p:spPr>
          <a:xfrm>
            <a:off x="777240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12</a:t>
            </a:r>
          </a:p>
        </p:txBody>
      </p:sp>
      <p:sp>
        <p:nvSpPr>
          <p:cNvPr id="7" name="slot:stat1.label"/>
          <p:cNvSpPr txBox="1"/>
          <p:nvPr/>
        </p:nvSpPr>
        <p:spPr>
          <a:xfrm>
            <a:off x="777240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Systems Migrated</a:t>
            </a:r>
          </a:p>
        </p:txBody>
      </p:sp>
      <p:sp>
        <p:nvSpPr>
          <p:cNvPr id="8" name="slot:stat2.value"/>
          <p:cNvSpPr txBox="1"/>
          <p:nvPr/>
        </p:nvSpPr>
        <p:spPr>
          <a:xfrm>
            <a:off x="4322978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850 TB</a:t>
            </a:r>
          </a:p>
        </p:txBody>
      </p:sp>
      <p:sp>
        <p:nvSpPr>
          <p:cNvPr id="9" name="slot:stat2.label"/>
          <p:cNvSpPr txBox="1"/>
          <p:nvPr/>
        </p:nvSpPr>
        <p:spPr>
          <a:xfrm>
            <a:off x="4322978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Data Volume</a:t>
            </a:r>
          </a:p>
        </p:txBody>
      </p:sp>
      <p:sp>
        <p:nvSpPr>
          <p:cNvPr id="10" name="slot:stat3.value"/>
          <p:cNvSpPr txBox="1"/>
          <p:nvPr/>
        </p:nvSpPr>
        <p:spPr>
          <a:xfrm>
            <a:off x="7868716" y="2057400"/>
            <a:ext cx="3179978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200" b="1">
                <a:solidFill>
                  <a:srgbClr val="FF5000"/>
                </a:solidFill>
                <a:latin typeface="Campton ExtraBold"/>
                <a:cs typeface="Campton ExtraBold"/>
              </a:rPr>
              <a:t>45</a:t>
            </a:r>
          </a:p>
        </p:txBody>
      </p:sp>
      <p:sp>
        <p:nvSpPr>
          <p:cNvPr id="11" name="slot:stat3.label"/>
          <p:cNvSpPr txBox="1"/>
          <p:nvPr/>
        </p:nvSpPr>
        <p:spPr>
          <a:xfrm>
            <a:off x="7868716" y="2823464"/>
            <a:ext cx="3179978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Campton Book"/>
                <a:cs typeface="Campton Book"/>
              </a:rPr>
              <a:t>Team Members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657600"/>
            <a:ext cx="10637215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slot:note1"/>
          <p:cNvSpPr txBox="1"/>
          <p:nvPr/>
        </p:nvSpPr>
        <p:spPr>
          <a:xfrm>
            <a:off x="777240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  <p:sp>
        <p:nvSpPr>
          <p:cNvPr id="14" name="slot:note2"/>
          <p:cNvSpPr txBox="1"/>
          <p:nvPr/>
        </p:nvSpPr>
        <p:spPr>
          <a:xfrm>
            <a:off x="6308591" y="3931920"/>
            <a:ext cx="5105863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>
                <a:solidFill>
                  <a:srgbClr val="000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ckup-o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6770" y="384048"/>
            <a:ext cx="577684" cy="475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77240" y="557783"/>
            <a:ext cx="1234440" cy="5029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slot:title"/>
          <p:cNvSpPr txBox="1"/>
          <p:nvPr/>
        </p:nvSpPr>
        <p:spPr>
          <a:xfrm>
            <a:off x="777240" y="868680"/>
            <a:ext cx="917417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000000"/>
                </a:solidFill>
                <a:latin typeface="Campton ExtraBold"/>
                <a:cs typeface="Campton ExtraBold"/>
              </a:rPr>
              <a:t>Migration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slot:phase1.head"/>
          <p:cNvSpPr txBox="1"/>
          <p:nvPr/>
        </p:nvSpPr>
        <p:spPr>
          <a:xfrm>
            <a:off x="1033271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Planning</a:t>
            </a:r>
          </a:p>
        </p:txBody>
      </p:sp>
      <p:sp>
        <p:nvSpPr>
          <p:cNvPr id="9" name="slot:phase1.body"/>
          <p:cNvSpPr txBox="1"/>
          <p:nvPr/>
        </p:nvSpPr>
        <p:spPr>
          <a:xfrm>
            <a:off x="1033271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Q4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9658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29658" y="1920240"/>
            <a:ext cx="3332378" cy="118872"/>
          </a:xfrm>
          <a:prstGeom prst="rect">
            <a:avLst/>
          </a:prstGeom>
          <a:solidFill>
            <a:srgbClr val="FF500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slot:phase2.head"/>
          <p:cNvSpPr txBox="1"/>
          <p:nvPr/>
        </p:nvSpPr>
        <p:spPr>
          <a:xfrm>
            <a:off x="4685690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Infrastructure</a:t>
            </a:r>
          </a:p>
        </p:txBody>
      </p:sp>
      <p:sp>
        <p:nvSpPr>
          <p:cNvPr id="13" name="slot:phase2.body"/>
          <p:cNvSpPr txBox="1"/>
          <p:nvPr/>
        </p:nvSpPr>
        <p:spPr>
          <a:xfrm>
            <a:off x="4685690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Q1 2027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920240"/>
            <a:ext cx="3332378" cy="2164715"/>
          </a:xfrm>
          <a:prstGeom prst="rect">
            <a:avLst/>
          </a:prstGeom>
          <a:noFill/>
          <a:ln w="9525">
            <a:solidFill>
              <a:srgbClr val="CCCCCC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2076" y="1920240"/>
            <a:ext cx="3332378" cy="118872"/>
          </a:xfrm>
          <a:prstGeom prst="rect">
            <a:avLst/>
          </a:prstGeom>
          <a:solidFill>
            <a:srgbClr val="581F9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slot:phase3.head"/>
          <p:cNvSpPr txBox="1"/>
          <p:nvPr/>
        </p:nvSpPr>
        <p:spPr>
          <a:xfrm>
            <a:off x="8338108" y="2304288"/>
            <a:ext cx="282031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000000"/>
                </a:solidFill>
                <a:latin typeface="Campton ExtraBold"/>
                <a:cs typeface="Campton ExtraBold"/>
              </a:rPr>
              <a:t>Data Transfer</a:t>
            </a:r>
          </a:p>
        </p:txBody>
      </p:sp>
      <p:sp>
        <p:nvSpPr>
          <p:cNvPr id="17" name="slot:phase3.body"/>
          <p:cNvSpPr txBox="1"/>
          <p:nvPr/>
        </p:nvSpPr>
        <p:spPr>
          <a:xfrm>
            <a:off x="8338108" y="2743200"/>
            <a:ext cx="2820314" cy="1158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Campton Book"/>
                <a:cs typeface="Campton Book"/>
              </a:rPr>
              <a:t>Q2 2027</a:t>
            </a:r>
          </a:p>
        </p:txBody>
      </p:sp>
      <p:sp>
        <p:nvSpPr>
          <p:cNvPr id="18" name="slot:note"/>
          <p:cNvSpPr txBox="1"/>
          <p:nvPr/>
        </p:nvSpPr>
        <p:spPr>
          <a:xfrm>
            <a:off x="777240" y="4496435"/>
            <a:ext cx="106372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FF5000"/>
                </a:solidFill>
                <a:latin typeface="Campton ExtraBold"/>
                <a:cs typeface="Campton ExtraBold"/>
              </a:rPr>
              <a:t/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333333"/>
                </a:solidFill>
                <a:latin typeface="Campton Book"/>
                <a:cs typeface="Campton Book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