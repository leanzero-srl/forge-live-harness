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Slide1"/>
    <p:sldId id="257" r:id="rIdSlide2"/>
    <p:sldId id="258" r:id="rIdSlide3"/>
    <p:sldId id="259" r:id="rIdSlide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arcs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143000"/>
            <a:ext cx="3896767" cy="4114800"/>
          </a:xfrm>
          <a:prstGeom prst="rect">
            <a:avLst/>
          </a:prstGeom>
        </p:spPr>
      </p:pic>
      <p:pic>
        <p:nvPicPr>
          <p:cNvPr id="4" name="Picture 3" descr="lockup-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85800"/>
            <a:ext cx="1277571" cy="1051560"/>
          </a:xfrm>
          <a:prstGeom prst="rect">
            <a:avLst/>
          </a:prstGeom>
        </p:spPr>
      </p:pic>
      <p:sp>
        <p:nvSpPr>
          <p:cNvPr id="5" name="slot:head"/>
          <p:cNvSpPr txBox="1"/>
          <p:nvPr/>
        </p:nvSpPr>
        <p:spPr>
          <a:xfrm>
            <a:off x="777240" y="2377440"/>
            <a:ext cx="7680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7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00600"/>
            <a:ext cx="219456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blurb"/>
          <p:cNvSpPr txBox="1"/>
          <p:nvPr/>
        </p:nvSpPr>
        <p:spPr>
          <a:xfrm>
            <a:off x="777240" y="512064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8" name="slot:tagline"/>
          <p:cNvSpPr txBox="1"/>
          <p:nvPr/>
        </p:nvSpPr>
        <p:spPr>
          <a:xfrm>
            <a:off x="7208215" y="58978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9" name="slot:meta"/>
          <p:cNvSpPr txBox="1"/>
          <p:nvPr/>
        </p:nvSpPr>
        <p:spPr>
          <a:xfrm>
            <a:off x="7208215" y="62910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Migration Pillars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card1.head"/>
          <p:cNvSpPr txBox="1"/>
          <p:nvPr/>
        </p:nvSpPr>
        <p:spPr>
          <a:xfrm>
            <a:off x="1014983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Infrastructure</a:t>
            </a:r>
          </a:p>
        </p:txBody>
      </p:sp>
      <p:sp>
        <p:nvSpPr>
          <p:cNvPr id="8" name="slot:card1.body"/>
          <p:cNvSpPr txBox="1"/>
          <p:nvPr/>
        </p:nvSpPr>
        <p:spPr>
          <a:xfrm>
            <a:off x="1014983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Modernise cloud architecture and deployment pipelines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9658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slot:card2.head"/>
          <p:cNvSpPr txBox="1"/>
          <p:nvPr/>
        </p:nvSpPr>
        <p:spPr>
          <a:xfrm>
            <a:off x="4667402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Data</a:t>
            </a:r>
          </a:p>
        </p:txBody>
      </p:sp>
      <p:sp>
        <p:nvSpPr>
          <p:cNvPr id="11" name="slot:card2.body"/>
          <p:cNvSpPr txBox="1"/>
          <p:nvPr/>
        </p:nvSpPr>
        <p:spPr>
          <a:xfrm>
            <a:off x="4667402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Ensure seamless data transfer with zero downtime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2076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slot:card3.head"/>
          <p:cNvSpPr txBox="1"/>
          <p:nvPr/>
        </p:nvSpPr>
        <p:spPr>
          <a:xfrm>
            <a:off x="8319820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Applications</a:t>
            </a:r>
          </a:p>
        </p:txBody>
      </p:sp>
      <p:sp>
        <p:nvSpPr>
          <p:cNvPr id="14" name="slot:card3.body"/>
          <p:cNvSpPr txBox="1"/>
          <p:nvPr/>
        </p:nvSpPr>
        <p:spPr>
          <a:xfrm>
            <a:off x="8319820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Refactor and optimise for new platform capabilities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392167"/>
            <a:ext cx="1063721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slot:stat1.value"/>
          <p:cNvSpPr txBox="1"/>
          <p:nvPr/>
        </p:nvSpPr>
        <p:spPr>
          <a:xfrm>
            <a:off x="777240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7" name="slot:stat1.label"/>
          <p:cNvSpPr txBox="1"/>
          <p:nvPr/>
        </p:nvSpPr>
        <p:spPr>
          <a:xfrm>
            <a:off x="777240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8" name="slot:stat2.value"/>
          <p:cNvSpPr txBox="1"/>
          <p:nvPr/>
        </p:nvSpPr>
        <p:spPr>
          <a:xfrm>
            <a:off x="3436543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9" name="slot:stat2.label"/>
          <p:cNvSpPr txBox="1"/>
          <p:nvPr/>
        </p:nvSpPr>
        <p:spPr>
          <a:xfrm>
            <a:off x="3436543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0" name="slot:stat3.value"/>
          <p:cNvSpPr txBox="1"/>
          <p:nvPr/>
        </p:nvSpPr>
        <p:spPr>
          <a:xfrm>
            <a:off x="6095847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21" name="slot:stat3.label"/>
          <p:cNvSpPr txBox="1"/>
          <p:nvPr/>
        </p:nvSpPr>
        <p:spPr>
          <a:xfrm>
            <a:off x="6095847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2" name="slot:stat4.value"/>
          <p:cNvSpPr txBox="1"/>
          <p:nvPr/>
        </p:nvSpPr>
        <p:spPr>
          <a:xfrm>
            <a:off x="8755151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23" name="slot:stat4.label"/>
          <p:cNvSpPr txBox="1"/>
          <p:nvPr/>
        </p:nvSpPr>
        <p:spPr>
          <a:xfrm>
            <a:off x="8755151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4" name="slot:footnote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By the Numbers</a:t>
            </a:r>
          </a:p>
        </p:txBody>
      </p:sp>
      <p:sp>
        <p:nvSpPr>
          <p:cNvPr id="6" name="slot:stat1.value"/>
          <p:cNvSpPr txBox="1"/>
          <p:nvPr/>
        </p:nvSpPr>
        <p:spPr>
          <a:xfrm>
            <a:off x="777240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12</a:t>
            </a:r>
          </a:p>
        </p:txBody>
      </p:sp>
      <p:sp>
        <p:nvSpPr>
          <p:cNvPr id="7" name="slot:stat1.label"/>
          <p:cNvSpPr txBox="1"/>
          <p:nvPr/>
        </p:nvSpPr>
        <p:spPr>
          <a:xfrm>
            <a:off x="777240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Systems Migrated</a:t>
            </a:r>
          </a:p>
        </p:txBody>
      </p:sp>
      <p:sp>
        <p:nvSpPr>
          <p:cNvPr id="8" name="slot:stat2.value"/>
          <p:cNvSpPr txBox="1"/>
          <p:nvPr/>
        </p:nvSpPr>
        <p:spPr>
          <a:xfrm>
            <a:off x="4322978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850 TB</a:t>
            </a:r>
          </a:p>
        </p:txBody>
      </p:sp>
      <p:sp>
        <p:nvSpPr>
          <p:cNvPr id="9" name="slot:stat2.label"/>
          <p:cNvSpPr txBox="1"/>
          <p:nvPr/>
        </p:nvSpPr>
        <p:spPr>
          <a:xfrm>
            <a:off x="4322978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Data Volume</a:t>
            </a:r>
          </a:p>
        </p:txBody>
      </p:sp>
      <p:sp>
        <p:nvSpPr>
          <p:cNvPr id="10" name="slot:stat3.value"/>
          <p:cNvSpPr txBox="1"/>
          <p:nvPr/>
        </p:nvSpPr>
        <p:spPr>
          <a:xfrm>
            <a:off x="7868716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45</a:t>
            </a:r>
          </a:p>
        </p:txBody>
      </p:sp>
      <p:sp>
        <p:nvSpPr>
          <p:cNvPr id="11" name="slot:stat3.label"/>
          <p:cNvSpPr txBox="1"/>
          <p:nvPr/>
        </p:nvSpPr>
        <p:spPr>
          <a:xfrm>
            <a:off x="7868716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Team Members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1063721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slot:note1"/>
          <p:cNvSpPr txBox="1"/>
          <p:nvPr/>
        </p:nvSpPr>
        <p:spPr>
          <a:xfrm>
            <a:off x="777240" y="3931920"/>
            <a:ext cx="51058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4" name="slot:note2"/>
          <p:cNvSpPr txBox="1"/>
          <p:nvPr/>
        </p:nvSpPr>
        <p:spPr>
          <a:xfrm>
            <a:off x="6308591" y="3931920"/>
            <a:ext cx="51058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Migration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32378" cy="11887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slot:phase1.head"/>
          <p:cNvSpPr txBox="1"/>
          <p:nvPr/>
        </p:nvSpPr>
        <p:spPr>
          <a:xfrm>
            <a:off x="1033271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9" name="slot:phase1.body"/>
          <p:cNvSpPr txBox="1"/>
          <p:nvPr/>
        </p:nvSpPr>
        <p:spPr>
          <a:xfrm>
            <a:off x="1033271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29658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9658" y="1920240"/>
            <a:ext cx="3332378" cy="11887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slot:phase2.head"/>
          <p:cNvSpPr txBox="1"/>
          <p:nvPr/>
        </p:nvSpPr>
        <p:spPr>
          <a:xfrm>
            <a:off x="4685690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3" name="slot:phase2.body"/>
          <p:cNvSpPr txBox="1"/>
          <p:nvPr/>
        </p:nvSpPr>
        <p:spPr>
          <a:xfrm>
            <a:off x="4685690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8082076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2076" y="1920240"/>
            <a:ext cx="3332378" cy="118872"/>
          </a:xfrm>
          <a:prstGeom prst="rect">
            <a:avLst/>
          </a:prstGeom>
          <a:solidFill>
            <a:srgbClr val="581F9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slot:phase3.head"/>
          <p:cNvSpPr txBox="1"/>
          <p:nvPr/>
        </p:nvSpPr>
        <p:spPr>
          <a:xfrm>
            <a:off x="8338108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7" name="slot:phase3.body"/>
          <p:cNvSpPr txBox="1"/>
          <p:nvPr/>
        </p:nvSpPr>
        <p:spPr>
          <a:xfrm>
            <a:off x="8338108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8" name="slot:note"/>
          <p:cNvSpPr txBox="1"/>
          <p:nvPr/>
        </p:nvSpPr>
        <p:spPr>
          <a:xfrm>
            <a:off x="777240" y="4496435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