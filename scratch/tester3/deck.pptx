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>Tester Slot Probe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>warehouse automation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>a connected, automated warehouse operation across six distribution sites</a:t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>Updating industries</a:t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>diconium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240280"/>
            <a:ext cx="2684439" cy="2834640"/>
          </a:xfrm>
          <a:prstGeom prst="rect">
            <a:avLst/>
          </a:prstGeom>
        </p:spPr>
      </p:pic>
      <p:pic>
        <p:nvPicPr>
          <p:cNvPr id="4" name="Picture 3" descr="lock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286000"/>
            <a:ext cx="765879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 spc="140">
                <a:solidFill>
                  <a:srgbClr val="FF5000"/>
                </a:solidFill>
                <a:latin typeface="Campton Medium"/>
                <a:cs typeface="Campton Medium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mpton ExtraBold"/>
                <a:cs typeface="Campton ExtraBold"/>
              </a:rPr>
              <a:t>migration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70916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how we deliver the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card1.head"/>
          <p:cNvSpPr txBox="1"/>
          <p:nvPr/>
        </p:nvSpPr>
        <p:spPr>
          <a:xfrm>
            <a:off x="1014983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assess</a:t>
            </a:r>
          </a:p>
        </p:txBody>
      </p:sp>
      <p:sp>
        <p:nvSpPr>
          <p:cNvPr id="8" name="slot:card1.body"/>
          <p:cNvSpPr txBox="1"/>
          <p:nvPr/>
        </p:nvSpPr>
        <p:spPr>
          <a:xfrm>
            <a:off x="1014983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we audit your existing warehouse systems, floor layout and data readiness before any hardware moves.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slot:card2.head"/>
          <p:cNvSpPr txBox="1"/>
          <p:nvPr/>
        </p:nvSpPr>
        <p:spPr>
          <a:xfrm>
            <a:off x="4667402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integrate</a:t>
            </a:r>
          </a:p>
        </p:txBody>
      </p:sp>
      <p:sp>
        <p:nvSpPr>
          <p:cNvPr id="11" name="slot:card2.body"/>
          <p:cNvSpPr txBox="1"/>
          <p:nvPr/>
        </p:nvSpPr>
        <p:spPr>
          <a:xfrm>
            <a:off x="4667402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we deploy the automation layer and connect it to your warehouse management and ERP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2076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card3.head"/>
          <p:cNvSpPr txBox="1"/>
          <p:nvPr/>
        </p:nvSpPr>
        <p:spPr>
          <a:xfrm>
            <a:off x="8319820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validate</a:t>
            </a:r>
          </a:p>
        </p:txBody>
      </p:sp>
      <p:sp>
        <p:nvSpPr>
          <p:cNvPr id="14" name="slot:card3.body"/>
          <p:cNvSpPr txBox="1"/>
          <p:nvPr/>
        </p:nvSpPr>
        <p:spPr>
          <a:xfrm>
            <a:off x="8319820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we run parallel operations, train your teams and hand over a proven, measured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92167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stat1.value"/>
          <p:cNvSpPr txBox="1"/>
          <p:nvPr/>
        </p:nvSpPr>
        <p:spPr>
          <a:xfrm>
            <a:off x="777240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7" name="slot:stat1.label"/>
          <p:cNvSpPr txBox="1"/>
          <p:nvPr/>
        </p:nvSpPr>
        <p:spPr>
          <a:xfrm>
            <a:off x="777240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8" name="slot:stat2.value"/>
          <p:cNvSpPr txBox="1"/>
          <p:nvPr/>
        </p:nvSpPr>
        <p:spPr>
          <a:xfrm>
            <a:off x="3436543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9" name="slot:stat2.label"/>
          <p:cNvSpPr txBox="1"/>
          <p:nvPr/>
        </p:nvSpPr>
        <p:spPr>
          <a:xfrm>
            <a:off x="3436543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0" name="slot:stat3.value"/>
          <p:cNvSpPr txBox="1"/>
          <p:nvPr/>
        </p:nvSpPr>
        <p:spPr>
          <a:xfrm>
            <a:off x="6095847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1" name="slot:stat3.label"/>
          <p:cNvSpPr txBox="1"/>
          <p:nvPr/>
        </p:nvSpPr>
        <p:spPr>
          <a:xfrm>
            <a:off x="6095847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2" name="slot:stat4.value"/>
          <p:cNvSpPr txBox="1"/>
          <p:nvPr/>
        </p:nvSpPr>
        <p:spPr>
          <a:xfrm>
            <a:off x="8755151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3" name="slot:stat4.label"/>
          <p:cNvSpPr txBox="1"/>
          <p:nvPr/>
        </p:nvSpPr>
        <p:spPr>
          <a:xfrm>
            <a:off x="8755151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4" name="slot:footnote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>each phase closes with a documented go or no-go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what the rollout delivers</a:t>
            </a:r>
          </a:p>
        </p:txBody>
      </p:sp>
      <p:sp>
        <p:nvSpPr>
          <p:cNvPr id="6" name="slot:stat1.value"/>
          <p:cNvSpPr txBox="1"/>
          <p:nvPr/>
        </p:nvSpPr>
        <p:spPr>
          <a:xfrm>
            <a:off x="777240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40%</a:t>
            </a:r>
          </a:p>
        </p:txBody>
      </p:sp>
      <p:sp>
        <p:nvSpPr>
          <p:cNvPr id="7" name="slot:stat1.label"/>
          <p:cNvSpPr txBox="1"/>
          <p:nvPr/>
        </p:nvSpPr>
        <p:spPr>
          <a:xfrm>
            <a:off x="777240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throughput gain per site</a:t>
            </a:r>
          </a:p>
        </p:txBody>
      </p:sp>
      <p:sp>
        <p:nvSpPr>
          <p:cNvPr id="8" name="slot:stat2.value"/>
          <p:cNvSpPr txBox="1"/>
          <p:nvPr/>
        </p:nvSpPr>
        <p:spPr>
          <a:xfrm>
            <a:off x="4322978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2,400</a:t>
            </a:r>
          </a:p>
        </p:txBody>
      </p:sp>
      <p:sp>
        <p:nvSpPr>
          <p:cNvPr id="9" name="slot:stat2.label"/>
          <p:cNvSpPr txBox="1"/>
          <p:nvPr/>
        </p:nvSpPr>
        <p:spPr>
          <a:xfrm>
            <a:off x="4322978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labour hours returned each year</a:t>
            </a:r>
          </a:p>
        </p:txBody>
      </p:sp>
      <p:sp>
        <p:nvSpPr>
          <p:cNvPr id="10" name="slot:stat3.value"/>
          <p:cNvSpPr txBox="1"/>
          <p:nvPr/>
        </p:nvSpPr>
        <p:spPr>
          <a:xfrm>
            <a:off x="7868716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18</a:t>
            </a:r>
          </a:p>
        </p:txBody>
      </p:sp>
      <p:sp>
        <p:nvSpPr>
          <p:cNvPr id="11" name="slot:stat3.label"/>
          <p:cNvSpPr txBox="1"/>
          <p:nvPr/>
        </p:nvSpPr>
        <p:spPr>
          <a:xfrm>
            <a:off x="7868716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weeks to first site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note1"/>
          <p:cNvSpPr txBox="1"/>
          <p:nvPr/>
        </p:nvSpPr>
        <p:spPr>
          <a:xfrm>
            <a:off x="777240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>6 sites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>sequenced so each rollout informs the next</a:t>
            </a:r>
          </a:p>
        </p:txBody>
      </p:sp>
      <p:sp>
        <p:nvSpPr>
          <p:cNvPr id="14" name="slot:note2"/>
          <p:cNvSpPr txBox="1"/>
          <p:nvPr/>
        </p:nvSpPr>
        <p:spPr>
          <a:xfrm>
            <a:off x="6308591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>99.5%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>pick accuracy target after stabilisation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rollout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slot:phase1.head"/>
          <p:cNvSpPr txBox="1"/>
          <p:nvPr/>
        </p:nvSpPr>
        <p:spPr>
          <a:xfrm>
            <a:off x="1033271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q1 2025</a:t>
            </a:r>
          </a:p>
        </p:txBody>
      </p:sp>
      <p:sp>
        <p:nvSpPr>
          <p:cNvPr id="9" name="slot:phase1.body"/>
          <p:cNvSpPr txBox="1"/>
          <p:nvPr/>
        </p:nvSpPr>
        <p:spPr>
          <a:xfrm>
            <a:off x="1033271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assessment, site surveys and target operating model agreed.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9658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slot:phase2.head"/>
          <p:cNvSpPr txBox="1"/>
          <p:nvPr/>
        </p:nvSpPr>
        <p:spPr>
          <a:xfrm>
            <a:off x="4685690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q2 2025</a:t>
            </a:r>
          </a:p>
        </p:txBody>
      </p:sp>
      <p:sp>
        <p:nvSpPr>
          <p:cNvPr id="13" name="slot:phase2.body"/>
          <p:cNvSpPr txBox="1"/>
          <p:nvPr/>
        </p:nvSpPr>
        <p:spPr>
          <a:xfrm>
            <a:off x="4685690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automation deployed at the lead site and integrated end to 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2076" y="1920240"/>
            <a:ext cx="3332378" cy="118872"/>
          </a:xfrm>
          <a:prstGeom prst="rect">
            <a:avLst/>
          </a:prstGeom>
          <a:solidFill>
            <a:srgbClr val="581F9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phase3.head"/>
          <p:cNvSpPr txBox="1"/>
          <p:nvPr/>
        </p:nvSpPr>
        <p:spPr>
          <a:xfrm>
            <a:off x="8338108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q3 2025</a:t>
            </a:r>
          </a:p>
        </p:txBody>
      </p:sp>
      <p:sp>
        <p:nvSpPr>
          <p:cNvPr id="17" name="slot:phase3.body"/>
          <p:cNvSpPr txBox="1"/>
          <p:nvPr/>
        </p:nvSpPr>
        <p:spPr>
          <a:xfrm>
            <a:off x="8338108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validation, team training and staged go-live across remaining sites.</a:t>
            </a:r>
          </a:p>
        </p:txBody>
      </p:sp>
      <p:sp>
        <p:nvSpPr>
          <p:cNvPr id="18" name="slot:note"/>
          <p:cNvSpPr txBox="1"/>
          <p:nvPr/>
        </p:nvSpPr>
        <p:spPr>
          <a:xfrm>
            <a:off x="777240" y="4496435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5000"/>
                </a:solidFill>
                <a:latin typeface="Campton ExtraBold"/>
                <a:cs typeface="Campton ExtraBold"/>
              </a:rPr>
              <a:t>after go-live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mpton Book"/>
                <a:cs typeface="Campton Book"/>
              </a:rPr>
              <a:t>we stay on for a stabilisation period at every 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