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  <p:sldId id="259" r:id="rIdSlide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3896767" cy="4114800"/>
          </a:xfrm>
          <a:prstGeom prst="rect">
            <a:avLst/>
          </a:prstGeom>
        </p:spPr>
      </p:pic>
      <p:pic>
        <p:nvPicPr>
          <p:cNvPr id="4" name="Picture 3" descr="lockup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277571" cy="1051560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37744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0000"/>
                </a:solidFill>
                <a:latin typeface="Campton ExtraBold"/>
                <a:cs typeface="Campton ExtraBold"/>
              </a:rPr>
              <a:t>TESTER REFUSAL PROBE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7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blurb"/>
          <p:cNvSpPr txBox="1"/>
          <p:nvPr/>
        </p:nvSpPr>
        <p:spPr>
          <a:xfrm>
            <a:off x="777240" y="51206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8" name="slot:tagline"/>
          <p:cNvSpPr txBox="1"/>
          <p:nvPr/>
        </p:nvSpPr>
        <p:spPr>
          <a:xfrm>
            <a:off x="7208215" y="5897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9" name="slot:meta"/>
          <p:cNvSpPr txBox="1"/>
          <p:nvPr/>
        </p:nvSpPr>
        <p:spPr>
          <a:xfrm>
            <a:off x="7208215" y="6291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warehouse automation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card1.head"/>
          <p:cNvSpPr txBox="1"/>
          <p:nvPr/>
        </p:nvSpPr>
        <p:spPr>
          <a:xfrm>
            <a:off x="1014983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Phase 1: Assessment</a:t>
            </a:r>
          </a:p>
        </p:txBody>
      </p:sp>
      <p:sp>
        <p:nvSpPr>
          <p:cNvPr id="8" name="slot:card1.body"/>
          <p:cNvSpPr txBox="1"/>
          <p:nvPr/>
        </p:nvSpPr>
        <p:spPr>
          <a:xfrm>
            <a:off x="1014983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Site survey and infrastructure audit completed across all facilities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slot:card2.head"/>
          <p:cNvSpPr txBox="1"/>
          <p:nvPr/>
        </p:nvSpPr>
        <p:spPr>
          <a:xfrm>
            <a:off x="4667402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Phase 2: Installation</a:t>
            </a:r>
          </a:p>
        </p:txBody>
      </p:sp>
      <p:sp>
        <p:nvSpPr>
          <p:cNvPr id="11" name="slot:card2.body"/>
          <p:cNvSpPr txBox="1"/>
          <p:nvPr/>
        </p:nvSpPr>
        <p:spPr>
          <a:xfrm>
            <a:off x="4667402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Robotic systems deployment and integration with existing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2076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card3.head"/>
          <p:cNvSpPr txBox="1"/>
          <p:nvPr/>
        </p:nvSpPr>
        <p:spPr>
          <a:xfrm>
            <a:off x="8319820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Phase 3: Training</a:t>
            </a:r>
          </a:p>
        </p:txBody>
      </p:sp>
      <p:sp>
        <p:nvSpPr>
          <p:cNvPr id="14" name="slot:card3.body"/>
          <p:cNvSpPr txBox="1"/>
          <p:nvPr/>
        </p:nvSpPr>
        <p:spPr>
          <a:xfrm>
            <a:off x="8319820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Operator training and safety certification programmes launched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92167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stat1.value"/>
          <p:cNvSpPr txBox="1"/>
          <p:nvPr/>
        </p:nvSpPr>
        <p:spPr>
          <a:xfrm>
            <a:off x="777240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7" name="slot:stat1.label"/>
          <p:cNvSpPr txBox="1"/>
          <p:nvPr/>
        </p:nvSpPr>
        <p:spPr>
          <a:xfrm>
            <a:off x="777240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8" name="slot:stat2.value"/>
          <p:cNvSpPr txBox="1"/>
          <p:nvPr/>
        </p:nvSpPr>
        <p:spPr>
          <a:xfrm>
            <a:off x="3436543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9" name="slot:stat2.label"/>
          <p:cNvSpPr txBox="1"/>
          <p:nvPr/>
        </p:nvSpPr>
        <p:spPr>
          <a:xfrm>
            <a:off x="3436543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0" name="slot:stat3.value"/>
          <p:cNvSpPr txBox="1"/>
          <p:nvPr/>
        </p:nvSpPr>
        <p:spPr>
          <a:xfrm>
            <a:off x="6095847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1" name="slot:stat3.label"/>
          <p:cNvSpPr txBox="1"/>
          <p:nvPr/>
        </p:nvSpPr>
        <p:spPr>
          <a:xfrm>
            <a:off x="6095847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2" name="slot:stat4.value"/>
          <p:cNvSpPr txBox="1"/>
          <p:nvPr/>
        </p:nvSpPr>
        <p:spPr>
          <a:xfrm>
            <a:off x="8755151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3" name="slot:stat4.label"/>
          <p:cNvSpPr txBox="1"/>
          <p:nvPr/>
        </p:nvSpPr>
        <p:spPr>
          <a:xfrm>
            <a:off x="8755151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4" name="slot:footnote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impact metrics</a:t>
            </a:r>
          </a:p>
        </p:txBody>
      </p:sp>
      <p:sp>
        <p:nvSpPr>
          <p:cNvPr id="6" name="slot:stat1.value"/>
          <p:cNvSpPr txBox="1"/>
          <p:nvPr/>
        </p:nvSpPr>
        <p:spPr>
          <a:xfrm>
            <a:off x="777240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40%</a:t>
            </a:r>
          </a:p>
        </p:txBody>
      </p:sp>
      <p:sp>
        <p:nvSpPr>
          <p:cNvPr id="7" name="slot:stat1.label"/>
          <p:cNvSpPr txBox="1"/>
          <p:nvPr/>
        </p:nvSpPr>
        <p:spPr>
          <a:xfrm>
            <a:off x="777240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throughput increase</a:t>
            </a:r>
          </a:p>
        </p:txBody>
      </p:sp>
      <p:sp>
        <p:nvSpPr>
          <p:cNvPr id="8" name="slot:stat2.value"/>
          <p:cNvSpPr txBox="1"/>
          <p:nvPr/>
        </p:nvSpPr>
        <p:spPr>
          <a:xfrm>
            <a:off x="4322978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2,500</a:t>
            </a:r>
          </a:p>
        </p:txBody>
      </p:sp>
      <p:sp>
        <p:nvSpPr>
          <p:cNvPr id="9" name="slot:stat2.label"/>
          <p:cNvSpPr txBox="1"/>
          <p:nvPr/>
        </p:nvSpPr>
        <p:spPr>
          <a:xfrm>
            <a:off x="4322978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processing capacity</a:t>
            </a:r>
          </a:p>
        </p:txBody>
      </p:sp>
      <p:sp>
        <p:nvSpPr>
          <p:cNvPr id="10" name="slot:stat3.value"/>
          <p:cNvSpPr txBox="1"/>
          <p:nvPr/>
        </p:nvSpPr>
        <p:spPr>
          <a:xfrm>
            <a:off x="7868716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95%</a:t>
            </a:r>
          </a:p>
        </p:txBody>
      </p:sp>
      <p:sp>
        <p:nvSpPr>
          <p:cNvPr id="11" name="slot:stat3.label"/>
          <p:cNvSpPr txBox="1"/>
          <p:nvPr/>
        </p:nvSpPr>
        <p:spPr>
          <a:xfrm>
            <a:off x="7868716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accuracy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note1"/>
          <p:cNvSpPr txBox="1"/>
          <p:nvPr/>
        </p:nvSpPr>
        <p:spPr>
          <a:xfrm>
            <a:off x="777240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4" name="slot:note2"/>
          <p:cNvSpPr txBox="1"/>
          <p:nvPr/>
        </p:nvSpPr>
        <p:spPr>
          <a:xfrm>
            <a:off x="6308591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rollout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slot:phase1.head"/>
          <p:cNvSpPr txBox="1"/>
          <p:nvPr/>
        </p:nvSpPr>
        <p:spPr>
          <a:xfrm>
            <a:off x="1033271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Q1 2025</a:t>
            </a:r>
          </a:p>
        </p:txBody>
      </p:sp>
      <p:sp>
        <p:nvSpPr>
          <p:cNvPr id="9" name="slot:phase1.body"/>
          <p:cNvSpPr txBox="1"/>
          <p:nvPr/>
        </p:nvSpPr>
        <p:spPr>
          <a:xfrm>
            <a:off x="1033271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Assessment and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9658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9658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slot:phase2.head"/>
          <p:cNvSpPr txBox="1"/>
          <p:nvPr/>
        </p:nvSpPr>
        <p:spPr>
          <a:xfrm>
            <a:off x="4685690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Q2 2025</a:t>
            </a:r>
          </a:p>
        </p:txBody>
      </p:sp>
      <p:sp>
        <p:nvSpPr>
          <p:cNvPr id="13" name="slot:phase2.body"/>
          <p:cNvSpPr txBox="1"/>
          <p:nvPr/>
        </p:nvSpPr>
        <p:spPr>
          <a:xfrm>
            <a:off x="4685690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Installation and commissioning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2076" y="1920240"/>
            <a:ext cx="3332378" cy="118872"/>
          </a:xfrm>
          <a:prstGeom prst="rect">
            <a:avLst/>
          </a:prstGeom>
          <a:solidFill>
            <a:srgbClr val="581F9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phase3.head"/>
          <p:cNvSpPr txBox="1"/>
          <p:nvPr/>
        </p:nvSpPr>
        <p:spPr>
          <a:xfrm>
            <a:off x="8338108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Q3 2025</a:t>
            </a:r>
          </a:p>
        </p:txBody>
      </p:sp>
      <p:sp>
        <p:nvSpPr>
          <p:cNvPr id="17" name="slot:phase3.body"/>
          <p:cNvSpPr txBox="1"/>
          <p:nvPr/>
        </p:nvSpPr>
        <p:spPr>
          <a:xfrm>
            <a:off x="8338108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Training and operational readiness</a:t>
            </a:r>
          </a:p>
        </p:txBody>
      </p:sp>
      <p:sp>
        <p:nvSpPr>
          <p:cNvPr id="18" name="slot:note"/>
          <p:cNvSpPr txBox="1"/>
          <p:nvPr/>
        </p:nvSpPr>
        <p:spPr>
          <a:xfrm>
            <a:off x="777240" y="4496435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